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5" r:id="rId31"/>
  </p:sldIdLst>
  <p:sldSz cx="18288000" cy="10287000"/>
  <p:notesSz cx="6858000" cy="9144000"/>
  <p:embeddedFontLst>
    <p:embeddedFont>
      <p:font typeface="Calibri (MS)" panose="020B0604020202020204" charset="0"/>
      <p:regular r:id="rId32"/>
    </p:embeddedFont>
    <p:embeddedFont>
      <p:font typeface="Calibri (MS) Bold" panose="020B0604020202020204" charset="0"/>
      <p:regular r:id="rId33"/>
    </p:embeddedFont>
    <p:embeddedFont>
      <p:font typeface="TT Rounds Condensed" panose="020B0604020202020204" charset="0"/>
      <p:regular r:id="rId34"/>
    </p:embeddedFont>
    <p:embeddedFont>
      <p:font typeface="TT Rounds Condensed Bold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jpe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grpSp>
        <p:nvGrpSpPr>
          <p:cNvPr id="3" name="Group 3"/>
          <p:cNvGrpSpPr/>
          <p:nvPr/>
        </p:nvGrpSpPr>
        <p:grpSpPr>
          <a:xfrm>
            <a:off x="2286000" y="2142896"/>
            <a:ext cx="13716000" cy="3581400"/>
            <a:chOff x="0" y="0"/>
            <a:chExt cx="18288000" cy="4775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4775200"/>
            </a:xfrm>
            <a:custGeom>
              <a:avLst/>
              <a:gdLst/>
              <a:ahLst/>
              <a:cxnLst/>
              <a:rect l="l" t="t" r="r" b="b"/>
              <a:pathLst>
                <a:path w="18288000" h="47752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623" b="-2462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85725"/>
              <a:ext cx="18288000" cy="468947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8748"/>
                </a:lnSpc>
              </a:pPr>
              <a:r>
                <a:rPr lang="en-US" sz="8100" b="1" spc="-49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LEYECO III Grid Analytics: A Machine Learning-Driven GIS for Distribution Network Resilience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6603614"/>
            <a:ext cx="4838603" cy="3683386"/>
          </a:xfrm>
          <a:custGeom>
            <a:avLst/>
            <a:gdLst/>
            <a:ahLst/>
            <a:cxnLst/>
            <a:rect l="l" t="t" r="r" b="b"/>
            <a:pathLst>
              <a:path w="4838603" h="3683386">
                <a:moveTo>
                  <a:pt x="0" y="0"/>
                </a:moveTo>
                <a:lnTo>
                  <a:pt x="4838603" y="0"/>
                </a:lnTo>
                <a:lnTo>
                  <a:pt x="4838603" y="3683386"/>
                </a:lnTo>
                <a:lnTo>
                  <a:pt x="0" y="3683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85130" y="6341676"/>
            <a:ext cx="6430470" cy="421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BY: Patrick Adrian Ocaña BSIT 4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13449397" y="6603614"/>
            <a:ext cx="4838603" cy="3683386"/>
          </a:xfrm>
          <a:custGeom>
            <a:avLst/>
            <a:gdLst/>
            <a:ahLst/>
            <a:cxnLst/>
            <a:rect l="l" t="t" r="r" b="b"/>
            <a:pathLst>
              <a:path w="4838603" h="3683386">
                <a:moveTo>
                  <a:pt x="4838603" y="0"/>
                </a:moveTo>
                <a:lnTo>
                  <a:pt x="0" y="0"/>
                </a:lnTo>
                <a:lnTo>
                  <a:pt x="0" y="3683386"/>
                </a:lnTo>
                <a:lnTo>
                  <a:pt x="4838603" y="3683386"/>
                </a:lnTo>
                <a:lnTo>
                  <a:pt x="4838603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7F781B0F-8A5C-2678-7CFC-E245DD9DFFA5}"/>
              </a:ext>
            </a:extLst>
          </p:cNvPr>
          <p:cNvSpPr/>
          <p:nvPr/>
        </p:nvSpPr>
        <p:spPr>
          <a:xfrm>
            <a:off x="-17839082" y="58079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888" b="-12888"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FA8B1DE3-BBD8-3347-B015-A1C8FFDE80F5}"/>
              </a:ext>
            </a:extLst>
          </p:cNvPr>
          <p:cNvSpPr txBox="1"/>
          <p:nvPr/>
        </p:nvSpPr>
        <p:spPr>
          <a:xfrm>
            <a:off x="4085130" y="6763508"/>
            <a:ext cx="5690102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SCHOOL: EVSU TANAUAN CAMPUS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7572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888" b="-12888"/>
            </a:stretch>
          </a:blipFill>
        </p:spPr>
        <p:txBody>
          <a:bodyPr/>
          <a:lstStyle/>
          <a:p>
            <a:endParaRPr lang="en-PH" dirty="0"/>
          </a:p>
        </p:txBody>
      </p:sp>
      <p:grpSp>
        <p:nvGrpSpPr>
          <p:cNvPr id="4" name="Group 4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Project Objectives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724400" y="3007997"/>
            <a:ext cx="7589520" cy="289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537" lvl="1" algn="l">
              <a:lnSpc>
                <a:spcPts val="2812"/>
              </a:lnSpc>
            </a:pPr>
            <a:r>
              <a:rPr lang="en-US" sz="3254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</a:t>
            </a:r>
            <a:r>
              <a:rPr lang="en-US" sz="3254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GIS-Based Network Visualization</a:t>
            </a:r>
          </a:p>
          <a:p>
            <a:pPr marL="589074" lvl="1" indent="-294537" algn="l">
              <a:lnSpc>
                <a:spcPts val="2812"/>
              </a:lnSpc>
            </a:pPr>
            <a:endParaRPr lang="en-US" sz="3254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89074" lvl="1" indent="-294537" algn="l">
              <a:lnSpc>
                <a:spcPts val="2812"/>
              </a:lnSpc>
            </a:pPr>
            <a:endParaRPr lang="en-US" sz="3254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89074" lvl="1" indent="-294537" algn="l">
              <a:lnSpc>
                <a:spcPts val="2812"/>
              </a:lnSpc>
            </a:pPr>
            <a:r>
              <a:rPr lang="en-US" sz="3254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</a:t>
            </a:r>
            <a:r>
              <a:rPr lang="en-US" sz="3254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Faster Outage Restoration</a:t>
            </a:r>
          </a:p>
          <a:p>
            <a:pPr marL="589074" lvl="1" indent="-294537" algn="l">
              <a:lnSpc>
                <a:spcPts val="2812"/>
              </a:lnSpc>
            </a:pPr>
            <a:endParaRPr lang="en-US" sz="3254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89074" lvl="1" indent="-294537" algn="l">
              <a:lnSpc>
                <a:spcPts val="2812"/>
              </a:lnSpc>
            </a:pPr>
            <a:endParaRPr lang="en-US" sz="3254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89074" lvl="1" indent="-294537" algn="l">
              <a:lnSpc>
                <a:spcPts val="2812"/>
              </a:lnSpc>
            </a:pPr>
            <a:endParaRPr lang="en-US" sz="3254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89074" lvl="1" indent="-294537" algn="l">
              <a:lnSpc>
                <a:spcPts val="2812"/>
              </a:lnSpc>
            </a:pPr>
            <a:r>
              <a:rPr lang="en-US" sz="3254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</a:t>
            </a:r>
            <a:r>
              <a:rPr lang="en-US" sz="3254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Predictive Maintenance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24400" y="6566388"/>
            <a:ext cx="7589520" cy="217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94537" lvl="1" algn="l">
              <a:lnSpc>
                <a:spcPts val="2812"/>
              </a:lnSpc>
            </a:pPr>
            <a:r>
              <a:rPr lang="en-US" sz="3254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 </a:t>
            </a:r>
            <a:r>
              <a:rPr lang="en-US" sz="3254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 Monitoring &amp; Grid Optimization</a:t>
            </a:r>
          </a:p>
          <a:p>
            <a:pPr marL="589074" lvl="1" indent="-294537" algn="l">
              <a:lnSpc>
                <a:spcPts val="2812"/>
              </a:lnSpc>
            </a:pPr>
            <a:endParaRPr lang="en-US" sz="3254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89074" lvl="1" indent="-294537" algn="l">
              <a:lnSpc>
                <a:spcPts val="2812"/>
              </a:lnSpc>
            </a:pPr>
            <a:endParaRPr lang="en-US" sz="3254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89074" lvl="1" indent="-294537" algn="l">
              <a:lnSpc>
                <a:spcPts val="2812"/>
              </a:lnSpc>
            </a:pPr>
            <a:endParaRPr lang="en-US" sz="3254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89074" lvl="1" indent="-294537" algn="l">
              <a:lnSpc>
                <a:spcPts val="2812"/>
              </a:lnSpc>
            </a:pPr>
            <a:r>
              <a:rPr lang="en-US" sz="3254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5. </a:t>
            </a:r>
            <a:r>
              <a:rPr lang="en-US" sz="3254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Operational Efficiency</a:t>
            </a:r>
          </a:p>
          <a:p>
            <a:pPr marL="589074" lvl="1" indent="-294537" algn="l">
              <a:lnSpc>
                <a:spcPts val="2812"/>
              </a:lnSpc>
            </a:pPr>
            <a:endParaRPr lang="en-US" sz="3254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42D6E7A8-711D-A968-883D-F349FB5D978F}"/>
              </a:ext>
            </a:extLst>
          </p:cNvPr>
          <p:cNvSpPr/>
          <p:nvPr/>
        </p:nvSpPr>
        <p:spPr>
          <a:xfrm>
            <a:off x="18362507" y="-365481"/>
            <a:ext cx="16027650" cy="11169410"/>
          </a:xfrm>
          <a:custGeom>
            <a:avLst/>
            <a:gdLst/>
            <a:ahLst/>
            <a:cxnLst/>
            <a:rect l="l" t="t" r="r" b="b"/>
            <a:pathLst>
              <a:path w="16027650" h="11169410">
                <a:moveTo>
                  <a:pt x="0" y="0"/>
                </a:moveTo>
                <a:lnTo>
                  <a:pt x="16027649" y="0"/>
                </a:lnTo>
                <a:lnTo>
                  <a:pt x="16027649" y="11169410"/>
                </a:lnTo>
                <a:lnTo>
                  <a:pt x="0" y="111694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E35C708E-2899-C862-3C1D-FFE13D38E210}"/>
              </a:ext>
            </a:extLst>
          </p:cNvPr>
          <p:cNvSpPr/>
          <p:nvPr/>
        </p:nvSpPr>
        <p:spPr>
          <a:xfrm>
            <a:off x="-5044343" y="6679338"/>
            <a:ext cx="4838603" cy="3683386"/>
          </a:xfrm>
          <a:custGeom>
            <a:avLst/>
            <a:gdLst/>
            <a:ahLst/>
            <a:cxnLst/>
            <a:rect l="l" t="t" r="r" b="b"/>
            <a:pathLst>
              <a:path w="4838603" h="3683386">
                <a:moveTo>
                  <a:pt x="0" y="0"/>
                </a:moveTo>
                <a:lnTo>
                  <a:pt x="4838603" y="0"/>
                </a:lnTo>
                <a:lnTo>
                  <a:pt x="4838603" y="3683386"/>
                </a:lnTo>
                <a:lnTo>
                  <a:pt x="0" y="36833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D8DD928C-497B-1485-252B-E7D008ECFCB9}"/>
              </a:ext>
            </a:extLst>
          </p:cNvPr>
          <p:cNvSpPr/>
          <p:nvPr/>
        </p:nvSpPr>
        <p:spPr>
          <a:xfrm flipH="1">
            <a:off x="18288000" y="6580754"/>
            <a:ext cx="4838603" cy="3683386"/>
          </a:xfrm>
          <a:custGeom>
            <a:avLst/>
            <a:gdLst/>
            <a:ahLst/>
            <a:cxnLst/>
            <a:rect l="l" t="t" r="r" b="b"/>
            <a:pathLst>
              <a:path w="4838603" h="3683386">
                <a:moveTo>
                  <a:pt x="4838603" y="0"/>
                </a:moveTo>
                <a:lnTo>
                  <a:pt x="0" y="0"/>
                </a:lnTo>
                <a:lnTo>
                  <a:pt x="0" y="3683386"/>
                </a:lnTo>
                <a:lnTo>
                  <a:pt x="4838603" y="3683386"/>
                </a:lnTo>
                <a:lnTo>
                  <a:pt x="4838603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46906" y="0"/>
            <a:ext cx="16027650" cy="11169410"/>
          </a:xfrm>
          <a:custGeom>
            <a:avLst/>
            <a:gdLst/>
            <a:ahLst/>
            <a:cxnLst/>
            <a:rect l="l" t="t" r="r" b="b"/>
            <a:pathLst>
              <a:path w="16027650" h="11169410">
                <a:moveTo>
                  <a:pt x="0" y="0"/>
                </a:moveTo>
                <a:lnTo>
                  <a:pt x="16027649" y="0"/>
                </a:lnTo>
                <a:lnTo>
                  <a:pt x="16027649" y="11169410"/>
                </a:lnTo>
                <a:lnTo>
                  <a:pt x="0" y="11169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TECH STACK OVERVIEW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48740" y="2333101"/>
            <a:ext cx="15590520" cy="519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Backend:</a:t>
            </a: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Python (Flask) with </a:t>
            </a:r>
            <a:r>
              <a:rPr lang="en-US" sz="42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SQLAlchemy</a:t>
            </a: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ORM for robust data management.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Database:</a:t>
            </a: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PostgreSQL with </a:t>
            </a:r>
            <a:r>
              <a:rPr lang="en-US" sz="42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PostGIS</a:t>
            </a: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extension for spatial data processing and complex network queries.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Frontend:</a:t>
            </a: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Responsive dashboard using Bootstrap 5, powered by </a:t>
            </a:r>
            <a:r>
              <a:rPr lang="en-US" sz="4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Leaflet.js</a:t>
            </a: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for real-time GIS visualization of poles and  lines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Analytics Engine:</a:t>
            </a: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Powered by </a:t>
            </a:r>
            <a:r>
              <a:rPr lang="en-US" sz="4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Pandas</a:t>
            </a: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and </a:t>
            </a:r>
            <a:r>
              <a:rPr lang="en-US" sz="4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Scikit-learn</a:t>
            </a: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for unsupervised anomaly detection and load stress modeling.</a:t>
            </a:r>
          </a:p>
          <a:p>
            <a:pPr marL="760095" lvl="1" indent="-380048" algn="l">
              <a:lnSpc>
                <a:spcPts val="4536"/>
              </a:lnSpc>
            </a:pPr>
            <a:endParaRPr lang="en-US" sz="42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6252747-C24A-5047-A731-9DB16417ACC1}"/>
              </a:ext>
            </a:extLst>
          </p:cNvPr>
          <p:cNvSpPr/>
          <p:nvPr/>
        </p:nvSpPr>
        <p:spPr>
          <a:xfrm>
            <a:off x="18394680" y="-148023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2888" b="-12888"/>
            </a:stretch>
          </a:blipFill>
        </p:spPr>
        <p:txBody>
          <a:bodyPr/>
          <a:lstStyle/>
          <a:p>
            <a:endParaRPr lang="en-PH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grpSp>
        <p:nvGrpSpPr>
          <p:cNvPr id="3" name="Group 3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KEY FEATURES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48740" y="3453984"/>
            <a:ext cx="15590520" cy="531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Interactive Geospatial Visualization (GIS)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High-Performance Network Tracing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AI-Powered Risk Analytics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Dynamic Outage Simulation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Intelligent Data Ingestion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Enterprise Security &amp; RBAC</a:t>
            </a:r>
          </a:p>
        </p:txBody>
      </p:sp>
      <p:sp>
        <p:nvSpPr>
          <p:cNvPr id="7" name="Freeform 7"/>
          <p:cNvSpPr/>
          <p:nvPr/>
        </p:nvSpPr>
        <p:spPr>
          <a:xfrm>
            <a:off x="8153400" y="3243074"/>
            <a:ext cx="10838985" cy="7553514"/>
          </a:xfrm>
          <a:custGeom>
            <a:avLst/>
            <a:gdLst/>
            <a:ahLst/>
            <a:cxnLst/>
            <a:rect l="l" t="t" r="r" b="b"/>
            <a:pathLst>
              <a:path w="10838985" h="7553514">
                <a:moveTo>
                  <a:pt x="0" y="0"/>
                </a:moveTo>
                <a:lnTo>
                  <a:pt x="10838985" y="0"/>
                </a:lnTo>
                <a:lnTo>
                  <a:pt x="10838985" y="7553514"/>
                </a:lnTo>
                <a:lnTo>
                  <a:pt x="0" y="7553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grpSp>
        <p:nvGrpSpPr>
          <p:cNvPr id="3" name="Group 3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Interactive Geospatial Visualization (GIS)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48740" y="2497931"/>
            <a:ext cx="15590520" cy="6473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Layered Mapping: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Real-time rendering of poles, primary lines, secondary loops, and consumer service drops on a dynamic map (</a:t>
            </a: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Leaflet.js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).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Asset Drill-down: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Clickable map markers that reveal technical specifications and linked consumer data for every asset.</a:t>
            </a:r>
          </a:p>
          <a:p>
            <a:pPr marL="760095" lvl="1" indent="-380048" algn="l">
              <a:lnSpc>
                <a:spcPts val="4536"/>
              </a:lnSpc>
            </a:pPr>
            <a:endParaRPr lang="en-US" sz="42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3390062" y="8573262"/>
            <a:ext cx="7315200" cy="1636776"/>
          </a:xfrm>
          <a:custGeom>
            <a:avLst/>
            <a:gdLst/>
            <a:ahLst/>
            <a:cxnLst/>
            <a:rect l="l" t="t" r="r" b="b"/>
            <a:pathLst>
              <a:path w="7315200" h="1636776">
                <a:moveTo>
                  <a:pt x="0" y="0"/>
                </a:moveTo>
                <a:lnTo>
                  <a:pt x="7315200" y="0"/>
                </a:lnTo>
                <a:lnTo>
                  <a:pt x="7315200" y="1636776"/>
                </a:lnTo>
                <a:lnTo>
                  <a:pt x="0" y="1636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705262" y="8582787"/>
            <a:ext cx="7315200" cy="1636776"/>
          </a:xfrm>
          <a:custGeom>
            <a:avLst/>
            <a:gdLst/>
            <a:ahLst/>
            <a:cxnLst/>
            <a:rect l="l" t="t" r="r" b="b"/>
            <a:pathLst>
              <a:path w="7315200" h="1636776">
                <a:moveTo>
                  <a:pt x="0" y="0"/>
                </a:moveTo>
                <a:lnTo>
                  <a:pt x="7315200" y="0"/>
                </a:lnTo>
                <a:lnTo>
                  <a:pt x="7315200" y="1636776"/>
                </a:lnTo>
                <a:lnTo>
                  <a:pt x="0" y="1636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925138" y="8573262"/>
            <a:ext cx="7315200" cy="1636776"/>
          </a:xfrm>
          <a:custGeom>
            <a:avLst/>
            <a:gdLst/>
            <a:ahLst/>
            <a:cxnLst/>
            <a:rect l="l" t="t" r="r" b="b"/>
            <a:pathLst>
              <a:path w="7315200" h="1636776">
                <a:moveTo>
                  <a:pt x="0" y="0"/>
                </a:moveTo>
                <a:lnTo>
                  <a:pt x="7315200" y="0"/>
                </a:lnTo>
                <a:lnTo>
                  <a:pt x="7315200" y="1636776"/>
                </a:lnTo>
                <a:lnTo>
                  <a:pt x="0" y="1636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781707"/>
            <a:ext cx="18288000" cy="8723586"/>
            <a:chOff x="0" y="0"/>
            <a:chExt cx="24384000" cy="116314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1631422"/>
            </a:xfrm>
            <a:custGeom>
              <a:avLst/>
              <a:gdLst/>
              <a:ahLst/>
              <a:cxnLst/>
              <a:rect l="l" t="t" r="r" b="b"/>
              <a:pathLst>
                <a:path w="24384000" h="11631422">
                  <a:moveTo>
                    <a:pt x="0" y="0"/>
                  </a:moveTo>
                  <a:lnTo>
                    <a:pt x="24384000" y="0"/>
                  </a:lnTo>
                  <a:lnTo>
                    <a:pt x="24384000" y="11631422"/>
                  </a:lnTo>
                  <a:lnTo>
                    <a:pt x="0" y="11631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1B23448-3A97-5C77-3976-5E8235F671F6}"/>
              </a:ext>
            </a:extLst>
          </p:cNvPr>
          <p:cNvSpPr/>
          <p:nvPr/>
        </p:nvSpPr>
        <p:spPr>
          <a:xfrm>
            <a:off x="18288000" y="6563063"/>
            <a:ext cx="4695920" cy="4114800"/>
          </a:xfrm>
          <a:custGeom>
            <a:avLst/>
            <a:gdLst/>
            <a:ahLst/>
            <a:cxnLst/>
            <a:rect l="l" t="t" r="r" b="b"/>
            <a:pathLst>
              <a:path w="4695920" h="4114800">
                <a:moveTo>
                  <a:pt x="0" y="0"/>
                </a:moveTo>
                <a:lnTo>
                  <a:pt x="4695920" y="0"/>
                </a:lnTo>
                <a:lnTo>
                  <a:pt x="46959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grpSp>
        <p:nvGrpSpPr>
          <p:cNvPr id="3" name="Group 3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High-Performance Network Tracing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48740" y="2746058"/>
            <a:ext cx="15590520" cy="6473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Upstream &amp; Downstream Analysis: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Uses </a:t>
            </a: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Recursive CTEs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for lightning-fast tracing from the substation down to the consumer level.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Secondary Discovery (BFS):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An intelligent </a:t>
            </a: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Breadth-First Search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algorithm that "crawls" the secondary network to find every household connected to a specific transformer group.</a:t>
            </a:r>
          </a:p>
          <a:p>
            <a:pPr marL="760095" lvl="1" indent="-380048" algn="l">
              <a:lnSpc>
                <a:spcPts val="4536"/>
              </a:lnSpc>
            </a:pPr>
            <a:endParaRPr lang="en-US" sz="42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3592080" y="6172200"/>
            <a:ext cx="4695920" cy="4114800"/>
          </a:xfrm>
          <a:custGeom>
            <a:avLst/>
            <a:gdLst/>
            <a:ahLst/>
            <a:cxnLst/>
            <a:rect l="l" t="t" r="r" b="b"/>
            <a:pathLst>
              <a:path w="4695920" h="4114800">
                <a:moveTo>
                  <a:pt x="0" y="0"/>
                </a:moveTo>
                <a:lnTo>
                  <a:pt x="4695920" y="0"/>
                </a:lnTo>
                <a:lnTo>
                  <a:pt x="46959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775497"/>
            <a:ext cx="18288000" cy="8735997"/>
            <a:chOff x="0" y="0"/>
            <a:chExt cx="24384000" cy="116479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1648059"/>
            </a:xfrm>
            <a:custGeom>
              <a:avLst/>
              <a:gdLst/>
              <a:ahLst/>
              <a:cxnLst/>
              <a:rect l="l" t="t" r="r" b="b"/>
              <a:pathLst>
                <a:path w="24384000" h="11648059">
                  <a:moveTo>
                    <a:pt x="0" y="0"/>
                  </a:moveTo>
                  <a:lnTo>
                    <a:pt x="24384000" y="0"/>
                  </a:lnTo>
                  <a:lnTo>
                    <a:pt x="24384000" y="11648059"/>
                  </a:lnTo>
                  <a:lnTo>
                    <a:pt x="0" y="11648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70224" y="913809"/>
            <a:ext cx="17747552" cy="8459381"/>
            <a:chOff x="0" y="0"/>
            <a:chExt cx="23663402" cy="112791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663402" cy="11279124"/>
            </a:xfrm>
            <a:custGeom>
              <a:avLst/>
              <a:gdLst/>
              <a:ahLst/>
              <a:cxnLst/>
              <a:rect l="l" t="t" r="r" b="b"/>
              <a:pathLst>
                <a:path w="23663402" h="11279124">
                  <a:moveTo>
                    <a:pt x="0" y="0"/>
                  </a:moveTo>
                  <a:lnTo>
                    <a:pt x="23663402" y="0"/>
                  </a:lnTo>
                  <a:lnTo>
                    <a:pt x="23663402" y="11279124"/>
                  </a:lnTo>
                  <a:lnTo>
                    <a:pt x="0" y="11279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Freeform 7">
            <a:extLst>
              <a:ext uri="{FF2B5EF4-FFF2-40B4-BE49-F238E27FC236}">
                <a16:creationId xmlns:a16="http://schemas.microsoft.com/office/drawing/2014/main" id="{05F87669-4202-C2C7-2CEB-C779C9479C9E}"/>
              </a:ext>
            </a:extLst>
          </p:cNvPr>
          <p:cNvSpPr/>
          <p:nvPr/>
        </p:nvSpPr>
        <p:spPr>
          <a:xfrm>
            <a:off x="-5708393" y="6279432"/>
            <a:ext cx="5708393" cy="4114800"/>
          </a:xfrm>
          <a:custGeom>
            <a:avLst/>
            <a:gdLst/>
            <a:ahLst/>
            <a:cxnLst/>
            <a:rect l="l" t="t" r="r" b="b"/>
            <a:pathLst>
              <a:path w="5708393" h="4114800">
                <a:moveTo>
                  <a:pt x="0" y="0"/>
                </a:moveTo>
                <a:lnTo>
                  <a:pt x="5708393" y="0"/>
                </a:lnTo>
                <a:lnTo>
                  <a:pt x="5708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grpSp>
        <p:nvGrpSpPr>
          <p:cNvPr id="3" name="Group 3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Dynamic Outage Simulation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01255" y="3458747"/>
            <a:ext cx="15590520" cy="398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What-If" Modeling:</a:t>
            </a: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Allows engineers to simulate a pole failure and instantly see the number of affected customers and the total estimated </a:t>
            </a:r>
            <a:r>
              <a:rPr lang="en-US" sz="4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 Loss (kWh)</a:t>
            </a: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 Priority Ranking:</a:t>
            </a: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Automatically ranks failures by severity, highlighting outages that affect the most people or the highest electrical load.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6172200"/>
            <a:ext cx="5708393" cy="4114800"/>
          </a:xfrm>
          <a:custGeom>
            <a:avLst/>
            <a:gdLst/>
            <a:ahLst/>
            <a:cxnLst/>
            <a:rect l="l" t="t" r="r" b="b"/>
            <a:pathLst>
              <a:path w="5708393" h="4114800">
                <a:moveTo>
                  <a:pt x="0" y="0"/>
                </a:moveTo>
                <a:lnTo>
                  <a:pt x="5708393" y="0"/>
                </a:lnTo>
                <a:lnTo>
                  <a:pt x="5708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802843"/>
            <a:ext cx="18288000" cy="8681314"/>
            <a:chOff x="0" y="0"/>
            <a:chExt cx="24384000" cy="115750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1575034"/>
            </a:xfrm>
            <a:custGeom>
              <a:avLst/>
              <a:gdLst/>
              <a:ahLst/>
              <a:cxnLst/>
              <a:rect l="l" t="t" r="r" b="b"/>
              <a:pathLst>
                <a:path w="24384000" h="11575034">
                  <a:moveTo>
                    <a:pt x="0" y="0"/>
                  </a:moveTo>
                  <a:lnTo>
                    <a:pt x="24384000" y="0"/>
                  </a:lnTo>
                  <a:lnTo>
                    <a:pt x="24384000" y="11575034"/>
                  </a:lnTo>
                  <a:lnTo>
                    <a:pt x="0" y="11575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grpSp>
        <p:nvGrpSpPr>
          <p:cNvPr id="3" name="Group 3"/>
          <p:cNvGrpSpPr/>
          <p:nvPr/>
        </p:nvGrpSpPr>
        <p:grpSpPr>
          <a:xfrm>
            <a:off x="1334414" y="0"/>
            <a:ext cx="15619181" cy="10287000"/>
            <a:chOff x="0" y="0"/>
            <a:chExt cx="20825574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825588" cy="13716000"/>
            </a:xfrm>
            <a:custGeom>
              <a:avLst/>
              <a:gdLst/>
              <a:ahLst/>
              <a:cxnLst/>
              <a:rect l="l" t="t" r="r" b="b"/>
              <a:pathLst>
                <a:path w="20825588" h="13716000">
                  <a:moveTo>
                    <a:pt x="0" y="0"/>
                  </a:moveTo>
                  <a:lnTo>
                    <a:pt x="20825588" y="0"/>
                  </a:lnTo>
                  <a:lnTo>
                    <a:pt x="20825588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5" name="Freeform 7">
            <a:extLst>
              <a:ext uri="{FF2B5EF4-FFF2-40B4-BE49-F238E27FC236}">
                <a16:creationId xmlns:a16="http://schemas.microsoft.com/office/drawing/2014/main" id="{62FC2A2C-273F-6F2E-0BA4-C4249B096580}"/>
              </a:ext>
            </a:extLst>
          </p:cNvPr>
          <p:cNvSpPr/>
          <p:nvPr/>
        </p:nvSpPr>
        <p:spPr>
          <a:xfrm>
            <a:off x="18288000" y="-5715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Intelligent Data Ingestion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48740" y="3571970"/>
            <a:ext cx="15590520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Flexible CSV/XLS Importer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endParaRPr lang="en-US" sz="420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endParaRPr lang="en-US" sz="420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Automated Topology Builder</a:t>
            </a:r>
            <a:endParaRPr lang="en-US" sz="42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grpSp>
        <p:nvGrpSpPr>
          <p:cNvPr id="3" name="Group 3"/>
          <p:cNvGrpSpPr/>
          <p:nvPr/>
        </p:nvGrpSpPr>
        <p:grpSpPr>
          <a:xfrm>
            <a:off x="7727747" y="0"/>
            <a:ext cx="2832497" cy="10287000"/>
            <a:chOff x="0" y="0"/>
            <a:chExt cx="3776662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76726" cy="13716000"/>
            </a:xfrm>
            <a:custGeom>
              <a:avLst/>
              <a:gdLst/>
              <a:ahLst/>
              <a:cxnLst/>
              <a:rect l="l" t="t" r="r" b="b"/>
              <a:pathLst>
                <a:path w="3776726" h="13716000">
                  <a:moveTo>
                    <a:pt x="0" y="0"/>
                  </a:moveTo>
                  <a:lnTo>
                    <a:pt x="3776726" y="0"/>
                  </a:lnTo>
                  <a:lnTo>
                    <a:pt x="377672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" r="-16"/>
              </a:stretch>
            </a:blipFill>
          </p:spPr>
        </p:sp>
      </p:grpSp>
      <p:sp>
        <p:nvSpPr>
          <p:cNvPr id="6" name="Freeform 7">
            <a:extLst>
              <a:ext uri="{FF2B5EF4-FFF2-40B4-BE49-F238E27FC236}">
                <a16:creationId xmlns:a16="http://schemas.microsoft.com/office/drawing/2014/main" id="{F5FA178D-E91C-099E-0EC4-978FC18C4519}"/>
              </a:ext>
            </a:extLst>
          </p:cNvPr>
          <p:cNvSpPr/>
          <p:nvPr/>
        </p:nvSpPr>
        <p:spPr>
          <a:xfrm>
            <a:off x="-250926" y="102870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Enterprise Security &amp; RBAC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48740" y="2746058"/>
            <a:ext cx="15590520" cy="4951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Role-Based Access Control: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Strict separation between </a:t>
            </a: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Admins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(full system control) and </a:t>
            </a: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Viewers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(read-only field access).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Secure Viewer Access: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Uses admin-generated highly secure </a:t>
            </a:r>
            <a:r>
              <a:rPr lang="en-US" sz="42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Access Codes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to allow field crews access without needing a full password account.</a:t>
            </a:r>
          </a:p>
          <a:p>
            <a:pPr marL="760095" lvl="1" indent="-380048" algn="l">
              <a:lnSpc>
                <a:spcPts val="4536"/>
              </a:lnSpc>
            </a:pPr>
            <a:endParaRPr lang="en-US" sz="42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792651"/>
            <a:ext cx="18288000" cy="8701707"/>
            <a:chOff x="0" y="0"/>
            <a:chExt cx="24384000" cy="116022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1602212"/>
            </a:xfrm>
            <a:custGeom>
              <a:avLst/>
              <a:gdLst/>
              <a:ahLst/>
              <a:cxnLst/>
              <a:rect l="l" t="t" r="r" b="b"/>
              <a:pathLst>
                <a:path w="24384000" h="11602212">
                  <a:moveTo>
                    <a:pt x="0" y="0"/>
                  </a:moveTo>
                  <a:lnTo>
                    <a:pt x="24384000" y="0"/>
                  </a:lnTo>
                  <a:lnTo>
                    <a:pt x="24384000" y="11602212"/>
                  </a:lnTo>
                  <a:lnTo>
                    <a:pt x="0" y="11602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7">
            <a:extLst>
              <a:ext uri="{FF2B5EF4-FFF2-40B4-BE49-F238E27FC236}">
                <a16:creationId xmlns:a16="http://schemas.microsoft.com/office/drawing/2014/main" id="{49F92616-B85A-1F89-F1EB-1E3EC80071DE}"/>
              </a:ext>
            </a:extLst>
          </p:cNvPr>
          <p:cNvSpPr/>
          <p:nvPr/>
        </p:nvSpPr>
        <p:spPr>
          <a:xfrm>
            <a:off x="18288000" y="6568545"/>
            <a:ext cx="4042791" cy="4114800"/>
          </a:xfrm>
          <a:custGeom>
            <a:avLst/>
            <a:gdLst/>
            <a:ahLst/>
            <a:cxnLst/>
            <a:rect l="l" t="t" r="r" b="b"/>
            <a:pathLst>
              <a:path w="4042791" h="4114800">
                <a:moveTo>
                  <a:pt x="0" y="0"/>
                </a:moveTo>
                <a:lnTo>
                  <a:pt x="4042791" y="0"/>
                </a:lnTo>
                <a:lnTo>
                  <a:pt x="40427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AI-Powered Risk Analytics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01255" y="3852186"/>
            <a:ext cx="15590520" cy="1731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Predictive Maintenance Model:</a:t>
            </a: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Uses </a:t>
            </a:r>
            <a:r>
              <a:rPr lang="en-US" sz="42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Isolation Forest (Machine Learning)</a:t>
            </a:r>
            <a:r>
              <a:rPr lang="en-US" sz="4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 to detect anomalies in transformer performance before they result in a blackout.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2EA8CAD-AB81-48A0-73AD-2F5B9603C48F}"/>
              </a:ext>
            </a:extLst>
          </p:cNvPr>
          <p:cNvSpPr/>
          <p:nvPr/>
        </p:nvSpPr>
        <p:spPr>
          <a:xfrm>
            <a:off x="14245209" y="6830277"/>
            <a:ext cx="4042791" cy="4114800"/>
          </a:xfrm>
          <a:custGeom>
            <a:avLst/>
            <a:gdLst/>
            <a:ahLst/>
            <a:cxnLst/>
            <a:rect l="l" t="t" r="r" b="b"/>
            <a:pathLst>
              <a:path w="4042791" h="4114800">
                <a:moveTo>
                  <a:pt x="0" y="0"/>
                </a:moveTo>
                <a:lnTo>
                  <a:pt x="4042791" y="0"/>
                </a:lnTo>
                <a:lnTo>
                  <a:pt x="40427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spc="-40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Machine Learning (Unsupervised)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48740" y="2822258"/>
            <a:ext cx="15590520" cy="6397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6081" lvl="1" indent="-323040" algn="l">
              <a:lnSpc>
                <a:spcPts val="3084"/>
              </a:lnSpc>
              <a:buFont typeface="Arial"/>
              <a:buChar char="•"/>
            </a:pPr>
            <a:r>
              <a:rPr lang="en-US" sz="357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Predictive Analytics: Anomaly Detection</a:t>
            </a:r>
          </a:p>
          <a:p>
            <a:pPr marL="646081" lvl="1" indent="-323040" algn="l">
              <a:lnSpc>
                <a:spcPts val="3084"/>
              </a:lnSpc>
            </a:pPr>
            <a:endParaRPr lang="en-US" sz="357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081" lvl="1" indent="-323040" algn="l">
              <a:lnSpc>
                <a:spcPts val="3084"/>
              </a:lnSpc>
              <a:buFont typeface="Arial"/>
              <a:buChar char="•"/>
            </a:pPr>
            <a:r>
              <a:rPr lang="en-US" sz="357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Algorithm:</a:t>
            </a:r>
          </a:p>
          <a:p>
            <a:pPr marL="646081" lvl="1" indent="-323040" algn="l">
              <a:lnSpc>
                <a:spcPts val="3084"/>
              </a:lnSpc>
            </a:pPr>
            <a:r>
              <a:rPr lang="en-US" sz="357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- Isolation Forest (Unsupervised)</a:t>
            </a:r>
          </a:p>
          <a:p>
            <a:pPr marL="646081" lvl="1" indent="-323040" algn="l">
              <a:lnSpc>
                <a:spcPts val="3084"/>
              </a:lnSpc>
            </a:pPr>
            <a:endParaRPr lang="en-US" sz="357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081" lvl="1" indent="-323040" algn="l">
              <a:lnSpc>
                <a:spcPts val="3084"/>
              </a:lnSpc>
              <a:buFont typeface="Arial"/>
              <a:buChar char="•"/>
            </a:pPr>
            <a:r>
              <a:rPr lang="en-US" sz="357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Purpose:</a:t>
            </a:r>
          </a:p>
          <a:p>
            <a:pPr marL="646081" lvl="1" indent="-323040" algn="l">
              <a:lnSpc>
                <a:spcPts val="3084"/>
              </a:lnSpc>
            </a:pPr>
            <a:r>
              <a:rPr lang="en-US" sz="357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- Detect abnormal transformer behavior</a:t>
            </a:r>
          </a:p>
          <a:p>
            <a:pPr marL="646081" lvl="1" indent="-323040" algn="l">
              <a:lnSpc>
                <a:spcPts val="3084"/>
              </a:lnSpc>
            </a:pPr>
            <a:r>
              <a:rPr lang="en-US" sz="357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- No need for historical failure labels</a:t>
            </a:r>
          </a:p>
          <a:p>
            <a:pPr marL="646081" lvl="1" indent="-323040" algn="l">
              <a:lnSpc>
                <a:spcPts val="3084"/>
              </a:lnSpc>
            </a:pPr>
            <a:endParaRPr lang="en-US" sz="357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081" lvl="1" indent="-323040" algn="l">
              <a:lnSpc>
                <a:spcPts val="3084"/>
              </a:lnSpc>
              <a:buFont typeface="Arial"/>
              <a:buChar char="•"/>
            </a:pPr>
            <a:r>
              <a:rPr lang="en-US" sz="357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Outcome:</a:t>
            </a:r>
          </a:p>
          <a:p>
            <a:pPr marL="646081" lvl="1" indent="-323040" algn="l">
              <a:lnSpc>
                <a:spcPts val="3084"/>
              </a:lnSpc>
            </a:pPr>
            <a:r>
              <a:rPr lang="en-US" sz="357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- Identifies high-risk infrastructure early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190A4FA-48F2-A928-9678-0FBE9946DC71}"/>
              </a:ext>
            </a:extLst>
          </p:cNvPr>
          <p:cNvSpPr/>
          <p:nvPr/>
        </p:nvSpPr>
        <p:spPr>
          <a:xfrm>
            <a:off x="18303240" y="6591300"/>
            <a:ext cx="4042791" cy="4114800"/>
          </a:xfrm>
          <a:custGeom>
            <a:avLst/>
            <a:gdLst/>
            <a:ahLst/>
            <a:cxnLst/>
            <a:rect l="l" t="t" r="r" b="b"/>
            <a:pathLst>
              <a:path w="4042791" h="4114800">
                <a:moveTo>
                  <a:pt x="0" y="0"/>
                </a:moveTo>
                <a:lnTo>
                  <a:pt x="4042791" y="0"/>
                </a:lnTo>
                <a:lnTo>
                  <a:pt x="40427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FLOW CHART</a:t>
              </a:r>
            </a:p>
          </p:txBody>
        </p:sp>
      </p:grpSp>
      <p:sp>
        <p:nvSpPr>
          <p:cNvPr id="8" name="Freeform 7">
            <a:extLst>
              <a:ext uri="{FF2B5EF4-FFF2-40B4-BE49-F238E27FC236}">
                <a16:creationId xmlns:a16="http://schemas.microsoft.com/office/drawing/2014/main" id="{4AC8EFEB-FB67-2EA9-D044-3F0DEF774ABC}"/>
              </a:ext>
            </a:extLst>
          </p:cNvPr>
          <p:cNvSpPr/>
          <p:nvPr/>
        </p:nvSpPr>
        <p:spPr>
          <a:xfrm>
            <a:off x="14173200" y="3378964"/>
            <a:ext cx="3276600" cy="3352800"/>
          </a:xfrm>
          <a:custGeom>
            <a:avLst/>
            <a:gdLst/>
            <a:ahLst/>
            <a:cxnLst/>
            <a:rect l="l" t="t" r="r" b="b"/>
            <a:pathLst>
              <a:path w="4042791" h="4114800">
                <a:moveTo>
                  <a:pt x="0" y="0"/>
                </a:moveTo>
                <a:lnTo>
                  <a:pt x="4042791" y="0"/>
                </a:lnTo>
                <a:lnTo>
                  <a:pt x="40427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grpSp>
        <p:nvGrpSpPr>
          <p:cNvPr id="6" name="Group 6"/>
          <p:cNvGrpSpPr/>
          <p:nvPr/>
        </p:nvGrpSpPr>
        <p:grpSpPr>
          <a:xfrm>
            <a:off x="0" y="3386585"/>
            <a:ext cx="18288000" cy="3513830"/>
            <a:chOff x="0" y="0"/>
            <a:chExt cx="24384000" cy="46851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4685157"/>
            </a:xfrm>
            <a:custGeom>
              <a:avLst/>
              <a:gdLst/>
              <a:ahLst/>
              <a:cxnLst/>
              <a:rect l="l" t="t" r="r" b="b"/>
              <a:pathLst>
                <a:path w="24384000" h="4685157">
                  <a:moveTo>
                    <a:pt x="0" y="0"/>
                  </a:moveTo>
                  <a:lnTo>
                    <a:pt x="24384000" y="0"/>
                  </a:lnTo>
                  <a:lnTo>
                    <a:pt x="24384000" y="4685157"/>
                  </a:lnTo>
                  <a:lnTo>
                    <a:pt x="0" y="4685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grpSp>
        <p:nvGrpSpPr>
          <p:cNvPr id="3" name="Group 3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Features use in ML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48740" y="2831783"/>
            <a:ext cx="15590520" cy="3470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8772" lvl="1" indent="-419386" algn="l">
              <a:lnSpc>
                <a:spcPts val="3356"/>
              </a:lnSpc>
              <a:buFont typeface="Arial"/>
              <a:buChar char="•"/>
            </a:pPr>
            <a:r>
              <a:rPr lang="en-US" sz="388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Efficiency Ratios</a:t>
            </a:r>
          </a:p>
          <a:p>
            <a:pPr marL="703088" lvl="1" indent="-351544" algn="l">
              <a:lnSpc>
                <a:spcPts val="3356"/>
              </a:lnSpc>
            </a:pPr>
            <a:r>
              <a:rPr lang="en-US" sz="388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(Loss-to-kVA)</a:t>
            </a:r>
          </a:p>
          <a:p>
            <a:pPr marL="703088" lvl="1" indent="-351544" algn="l">
              <a:lnSpc>
                <a:spcPts val="3356"/>
              </a:lnSpc>
            </a:pPr>
            <a:endParaRPr lang="en-US" sz="3885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838772" lvl="1" indent="-419386" algn="l">
              <a:lnSpc>
                <a:spcPts val="3356"/>
              </a:lnSpc>
              <a:buFont typeface="Arial"/>
              <a:buChar char="•"/>
            </a:pPr>
            <a:r>
              <a:rPr lang="en-US" sz="388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Impedance Characteristics</a:t>
            </a:r>
          </a:p>
          <a:p>
            <a:pPr marL="703088" lvl="1" indent="-351544" algn="l">
              <a:lnSpc>
                <a:spcPts val="3356"/>
              </a:lnSpc>
            </a:pPr>
            <a:r>
              <a:rPr lang="en-US" sz="388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(%Z and X/R interaction)</a:t>
            </a:r>
          </a:p>
          <a:p>
            <a:pPr marL="703088" lvl="1" indent="-351544" algn="l">
              <a:lnSpc>
                <a:spcPts val="3356"/>
              </a:lnSpc>
            </a:pPr>
            <a:endParaRPr lang="en-US" sz="3885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838772" lvl="1" indent="-419386" algn="l">
              <a:lnSpc>
                <a:spcPts val="3356"/>
              </a:lnSpc>
              <a:buFont typeface="Arial"/>
              <a:buChar char="•"/>
            </a:pPr>
            <a:r>
              <a:rPr lang="en-US" sz="388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Operational Stress or Load Stress</a:t>
            </a:r>
          </a:p>
          <a:p>
            <a:pPr marL="703088" lvl="1" indent="-351544" algn="l">
              <a:lnSpc>
                <a:spcPts val="3356"/>
              </a:lnSpc>
            </a:pPr>
            <a:r>
              <a:rPr lang="en-US" sz="388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(Load utilization %)</a:t>
            </a:r>
          </a:p>
        </p:txBody>
      </p:sp>
      <p:sp>
        <p:nvSpPr>
          <p:cNvPr id="7" name="Freeform 7"/>
          <p:cNvSpPr/>
          <p:nvPr/>
        </p:nvSpPr>
        <p:spPr>
          <a:xfrm>
            <a:off x="14245209" y="6172200"/>
            <a:ext cx="4042791" cy="4114800"/>
          </a:xfrm>
          <a:custGeom>
            <a:avLst/>
            <a:gdLst/>
            <a:ahLst/>
            <a:cxnLst/>
            <a:rect l="l" t="t" r="r" b="b"/>
            <a:pathLst>
              <a:path w="4042791" h="4114800">
                <a:moveTo>
                  <a:pt x="0" y="0"/>
                </a:moveTo>
                <a:lnTo>
                  <a:pt x="4042791" y="0"/>
                </a:lnTo>
                <a:lnTo>
                  <a:pt x="40427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Risk Score Formula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078232" y="4142861"/>
            <a:ext cx="13064900" cy="2449668"/>
            <a:chOff x="0" y="0"/>
            <a:chExt cx="17419866" cy="32662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419828" cy="3266186"/>
            </a:xfrm>
            <a:custGeom>
              <a:avLst/>
              <a:gdLst/>
              <a:ahLst/>
              <a:cxnLst/>
              <a:rect l="l" t="t" r="r" b="b"/>
              <a:pathLst>
                <a:path w="17419828" h="3266186">
                  <a:moveTo>
                    <a:pt x="0" y="0"/>
                  </a:moveTo>
                  <a:lnTo>
                    <a:pt x="17419828" y="0"/>
                  </a:lnTo>
                  <a:lnTo>
                    <a:pt x="17419828" y="3266186"/>
                  </a:lnTo>
                  <a:lnTo>
                    <a:pt x="0" y="3266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110672"/>
            <a:ext cx="18288000" cy="8065646"/>
            <a:chOff x="0" y="0"/>
            <a:chExt cx="24384000" cy="107541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0754233"/>
            </a:xfrm>
            <a:custGeom>
              <a:avLst/>
              <a:gdLst/>
              <a:ahLst/>
              <a:cxnLst/>
              <a:rect l="l" t="t" r="r" b="b"/>
              <a:pathLst>
                <a:path w="24384000" h="10754233">
                  <a:moveTo>
                    <a:pt x="0" y="0"/>
                  </a:moveTo>
                  <a:lnTo>
                    <a:pt x="24384000" y="0"/>
                  </a:lnTo>
                  <a:lnTo>
                    <a:pt x="24384000" y="10754233"/>
                  </a:lnTo>
                  <a:lnTo>
                    <a:pt x="0" y="10754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Load Stress Calculation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421684" y="4497743"/>
            <a:ext cx="13444623" cy="2522496"/>
            <a:chOff x="0" y="0"/>
            <a:chExt cx="17926164" cy="33633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926177" cy="3363341"/>
            </a:xfrm>
            <a:custGeom>
              <a:avLst/>
              <a:gdLst/>
              <a:ahLst/>
              <a:cxnLst/>
              <a:rect l="l" t="t" r="r" b="b"/>
              <a:pathLst>
                <a:path w="17926177" h="3363341">
                  <a:moveTo>
                    <a:pt x="0" y="0"/>
                  </a:moveTo>
                  <a:lnTo>
                    <a:pt x="17926177" y="0"/>
                  </a:lnTo>
                  <a:lnTo>
                    <a:pt x="17926177" y="3363341"/>
                  </a:lnTo>
                  <a:lnTo>
                    <a:pt x="0" y="3363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724672"/>
            <a:ext cx="15773400" cy="1988344"/>
            <a:chOff x="0" y="0"/>
            <a:chExt cx="21031200" cy="2651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Impact score formula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397987" y="4475188"/>
            <a:ext cx="11845995" cy="900236"/>
            <a:chOff x="0" y="0"/>
            <a:chExt cx="15794660" cy="12003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94610" cy="1200277"/>
            </a:xfrm>
            <a:custGeom>
              <a:avLst/>
              <a:gdLst/>
              <a:ahLst/>
              <a:cxnLst/>
              <a:rect l="l" t="t" r="r" b="b"/>
              <a:pathLst>
                <a:path w="15794610" h="1200277">
                  <a:moveTo>
                    <a:pt x="0" y="0"/>
                  </a:moveTo>
                  <a:lnTo>
                    <a:pt x="15794610" y="0"/>
                  </a:lnTo>
                  <a:lnTo>
                    <a:pt x="15794610" y="1200277"/>
                  </a:lnTo>
                  <a:lnTo>
                    <a:pt x="0" y="1200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"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446020" y="0"/>
            <a:ext cx="13395960" cy="10287000"/>
            <a:chOff x="0" y="0"/>
            <a:chExt cx="1786128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61280" cy="13716000"/>
            </a:xfrm>
            <a:custGeom>
              <a:avLst/>
              <a:gdLst/>
              <a:ahLst/>
              <a:cxnLst/>
              <a:rect l="l" t="t" r="r" b="b"/>
              <a:pathLst>
                <a:path w="17861280" h="13716000">
                  <a:moveTo>
                    <a:pt x="0" y="0"/>
                  </a:moveTo>
                  <a:lnTo>
                    <a:pt x="17861280" y="0"/>
                  </a:lnTo>
                  <a:lnTo>
                    <a:pt x="1786128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Freeform 7">
            <a:extLst>
              <a:ext uri="{FF2B5EF4-FFF2-40B4-BE49-F238E27FC236}">
                <a16:creationId xmlns:a16="http://schemas.microsoft.com/office/drawing/2014/main" id="{9520ED2E-816D-03C0-1990-73459747C60C}"/>
              </a:ext>
            </a:extLst>
          </p:cNvPr>
          <p:cNvSpPr/>
          <p:nvPr/>
        </p:nvSpPr>
        <p:spPr>
          <a:xfrm>
            <a:off x="9372600" y="9563100"/>
            <a:ext cx="10838985" cy="7553514"/>
          </a:xfrm>
          <a:custGeom>
            <a:avLst/>
            <a:gdLst/>
            <a:ahLst/>
            <a:cxnLst/>
            <a:rect l="l" t="t" r="r" b="b"/>
            <a:pathLst>
              <a:path w="10838985" h="7553514">
                <a:moveTo>
                  <a:pt x="0" y="0"/>
                </a:moveTo>
                <a:lnTo>
                  <a:pt x="10838985" y="0"/>
                </a:lnTo>
                <a:lnTo>
                  <a:pt x="10838985" y="7553514"/>
                </a:lnTo>
                <a:lnTo>
                  <a:pt x="0" y="7553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System Value Proposition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48740" y="2746058"/>
            <a:ext cx="15590520" cy="6473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From Reactive → Proactive System</a:t>
            </a:r>
          </a:p>
          <a:p>
            <a:pPr marL="760095" lvl="1" indent="-380048" algn="l">
              <a:lnSpc>
                <a:spcPts val="4536"/>
              </a:lnSpc>
            </a:pPr>
            <a:endParaRPr lang="en-US" sz="42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Detect failures before they occur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Prioritize high-impact transformers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Reduce downtime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Improve service reliability</a:t>
            </a:r>
          </a:p>
        </p:txBody>
      </p:sp>
      <p:sp>
        <p:nvSpPr>
          <p:cNvPr id="7" name="Freeform 7"/>
          <p:cNvSpPr/>
          <p:nvPr/>
        </p:nvSpPr>
        <p:spPr>
          <a:xfrm>
            <a:off x="7449015" y="3258314"/>
            <a:ext cx="10838985" cy="7553514"/>
          </a:xfrm>
          <a:custGeom>
            <a:avLst/>
            <a:gdLst/>
            <a:ahLst/>
            <a:cxnLst/>
            <a:rect l="l" t="t" r="r" b="b"/>
            <a:pathLst>
              <a:path w="10838985" h="7553514">
                <a:moveTo>
                  <a:pt x="0" y="0"/>
                </a:moveTo>
                <a:lnTo>
                  <a:pt x="10838985" y="0"/>
                </a:lnTo>
                <a:lnTo>
                  <a:pt x="10838985" y="7553514"/>
                </a:lnTo>
                <a:lnTo>
                  <a:pt x="0" y="7553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Scalability and Performance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48740" y="2854061"/>
            <a:ext cx="15590520" cy="475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</a:pPr>
            <a:endParaRPr/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Database-level computation (PostGIS + CTE)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Handles large-scale grid data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Efficient spatial indexing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 Minimal backend load</a:t>
            </a:r>
          </a:p>
        </p:txBody>
      </p:sp>
      <p:sp>
        <p:nvSpPr>
          <p:cNvPr id="7" name="Freeform 7"/>
          <p:cNvSpPr/>
          <p:nvPr/>
        </p:nvSpPr>
        <p:spPr>
          <a:xfrm>
            <a:off x="11474290" y="4248350"/>
            <a:ext cx="6813710" cy="6038650"/>
          </a:xfrm>
          <a:custGeom>
            <a:avLst/>
            <a:gdLst/>
            <a:ahLst/>
            <a:cxnLst/>
            <a:rect l="l" t="t" r="r" b="b"/>
            <a:pathLst>
              <a:path w="6813710" h="6038650">
                <a:moveTo>
                  <a:pt x="0" y="0"/>
                </a:moveTo>
                <a:lnTo>
                  <a:pt x="6813710" y="0"/>
                </a:lnTo>
                <a:lnTo>
                  <a:pt x="6813710" y="6038650"/>
                </a:lnTo>
                <a:lnTo>
                  <a:pt x="0" y="60386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47688"/>
            <a:ext cx="15773400" cy="1988344"/>
            <a:chOff x="0" y="0"/>
            <a:chExt cx="21031200" cy="2651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4573" b="-10457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Key Takeaway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9812902" y="4517926"/>
            <a:ext cx="8475098" cy="5613033"/>
          </a:xfrm>
          <a:custGeom>
            <a:avLst/>
            <a:gdLst/>
            <a:ahLst/>
            <a:cxnLst/>
            <a:rect l="l" t="t" r="r" b="b"/>
            <a:pathLst>
              <a:path w="8475098" h="5613033">
                <a:moveTo>
                  <a:pt x="0" y="0"/>
                </a:moveTo>
                <a:lnTo>
                  <a:pt x="8475098" y="0"/>
                </a:lnTo>
                <a:lnTo>
                  <a:pt x="8475098" y="5613033"/>
                </a:lnTo>
                <a:lnTo>
                  <a:pt x="0" y="56130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48740" y="3578038"/>
            <a:ext cx="15590520" cy="3092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Proactive Maintenance System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Fast outage impact analysis for large networks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operational cost</a:t>
            </a:r>
          </a:p>
          <a:p>
            <a:pPr marL="760095" lvl="1" indent="-380048" algn="l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Improves customer satisfaction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82298-F6E0-FAB9-E6DB-F4D5F1B19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7830800" cy="1143000"/>
          </a:xfrm>
        </p:spPr>
        <p:txBody>
          <a:bodyPr/>
          <a:lstStyle/>
          <a:p>
            <a:pPr algn="l"/>
            <a:r>
              <a:rPr lang="en-US" b="1" dirty="0"/>
              <a:t>POSIBLE UPGRADE IN THE FUTURE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BA51D-34F6-6D07-08D6-6A7A10700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7830800" cy="8686800"/>
          </a:xfrm>
        </p:spPr>
        <p:txBody>
          <a:bodyPr/>
          <a:lstStyle/>
          <a:p>
            <a:r>
              <a:rPr lang="en-US" b="1" dirty="0"/>
              <a:t>ADVANCE AI-MODEL</a:t>
            </a:r>
          </a:p>
          <a:p>
            <a:pPr marL="0" indent="0">
              <a:buNone/>
            </a:pPr>
            <a:r>
              <a:rPr lang="en-US" dirty="0"/>
              <a:t>	Instead of anomaly detection, the system can be upgraded to a more advanced AI model called 	failure prediction if sufficient historical data is available, such as past transformer failures, load 	patterns, maintenance records, and environmental conditions.</a:t>
            </a:r>
          </a:p>
          <a:p>
            <a:r>
              <a:rPr lang="en-PH" b="1" dirty="0"/>
              <a:t>Automated Load Balancing Recommendations(AI-MODEL)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	The system can recommend load redistribution strategies to prevent transformer overloading by 	analyzing real-time or historical load data, network connectivity, and transformer capacity, then 	suggesting optimal reconfiguration of load across nearby transformers.</a:t>
            </a:r>
            <a:endParaRPr lang="en-PH" dirty="0"/>
          </a:p>
          <a:p>
            <a:r>
              <a:rPr lang="en-PH" b="1" dirty="0"/>
              <a:t>Integration with Billing System</a:t>
            </a:r>
          </a:p>
          <a:p>
            <a:pPr marL="0" indent="0">
              <a:buNone/>
            </a:pPr>
            <a:r>
              <a:rPr lang="en-PH" dirty="0"/>
              <a:t>	</a:t>
            </a:r>
            <a:r>
              <a:rPr lang="en-US" dirty="0"/>
              <a:t>Integration with billing systems can improve accuracy of load analysis and customer impact 	assessment</a:t>
            </a:r>
          </a:p>
        </p:txBody>
      </p:sp>
    </p:spTree>
    <p:extLst>
      <p:ext uri="{BB962C8B-B14F-4D97-AF65-F5344CB8AC3E}">
        <p14:creationId xmlns:p14="http://schemas.microsoft.com/office/powerpoint/2010/main" val="1140652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86000" y="1683544"/>
            <a:ext cx="13716000" cy="3581400"/>
            <a:chOff x="0" y="0"/>
            <a:chExt cx="18288000" cy="4775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4775200"/>
            </a:xfrm>
            <a:custGeom>
              <a:avLst/>
              <a:gdLst/>
              <a:ahLst/>
              <a:cxnLst/>
              <a:rect l="l" t="t" r="r" b="b"/>
              <a:pathLst>
                <a:path w="18288000" h="47752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623" b="-2462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95250"/>
              <a:ext cx="18288000" cy="46799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9720"/>
                </a:lnSpc>
              </a:pPr>
              <a:r>
                <a:rPr lang="en-US" sz="9000" spc="-54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THANK YOU! 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2057400"/>
            <a:ext cx="6598643" cy="8229600"/>
          </a:xfrm>
          <a:custGeom>
            <a:avLst/>
            <a:gdLst/>
            <a:ahLst/>
            <a:cxnLst/>
            <a:rect l="l" t="t" r="r" b="b"/>
            <a:pathLst>
              <a:path w="6598643" h="8229600">
                <a:moveTo>
                  <a:pt x="0" y="0"/>
                </a:moveTo>
                <a:lnTo>
                  <a:pt x="6598643" y="0"/>
                </a:lnTo>
                <a:lnTo>
                  <a:pt x="659864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77440" y="5429726"/>
            <a:ext cx="13533120" cy="2411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Open forum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666</Words>
  <Application>Microsoft Office PowerPoint</Application>
  <PresentationFormat>Custom</PresentationFormat>
  <Paragraphs>100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TT Rounds Condensed Bold</vt:lpstr>
      <vt:lpstr>Calibri (MS)</vt:lpstr>
      <vt:lpstr>TT Rounds Condensed</vt:lpstr>
      <vt:lpstr>Calibri (MS)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POSIBLE UPGRADE IN THE FUTURE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LEYECO III Grid Analytics.pptx</dc:title>
  <cp:lastModifiedBy>patrick adrian ocana</cp:lastModifiedBy>
  <cp:revision>4</cp:revision>
  <dcterms:created xsi:type="dcterms:W3CDTF">2006-08-16T00:00:00Z</dcterms:created>
  <dcterms:modified xsi:type="dcterms:W3CDTF">2026-03-18T11:13:57Z</dcterms:modified>
  <dc:identifier>DAHENuEygWA</dc:identifier>
</cp:coreProperties>
</file>